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微软雅黑"/>
              </a:defRPr>
            </a:pPr>
            <a:r>
              <a:t>膳食纤维与肠道健康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E0E8F0"/>
                </a:solidFill>
                <a:latin typeface="微软雅黑"/>
              </a:defRPr>
            </a:pPr>
            <a:r>
              <a:t>基于循证营养学的科普课程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C0D0E0"/>
                </a:solidFill>
                <a:latin typeface="微软雅黑"/>
              </a:defRPr>
            </a:pPr>
            <a:r>
              <a:t>授课对象：普通成年人　·　时长：30分钟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B0C0D0"/>
                </a:solidFill>
                <a:latin typeface="微软雅黑"/>
              </a:defRPr>
            </a:pPr>
            <a:r>
              <a:t>营养课程生成器 · 中文版 · 千里江山图配色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2E75B6"/>
                </a:solidFill>
                <a:latin typeface="微软雅黑"/>
              </a:defRPr>
            </a:pPr>
            <a:r>
              <a:t>课程概述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097280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1. 背景与重要性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2. 核心概念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3. 科学证据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4. 日常实践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5. 常见误区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6. 总结要点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  <a:latin typeface="微软雅黑"/>
              </a:defRPr>
            </a:pPr>
            <a:r>
              <a:t>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2E75B6"/>
                </a:solidFill>
                <a:latin typeface="微软雅黑"/>
              </a:defRPr>
            </a:pPr>
            <a:r>
              <a:t>为什么要关注这个话题？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8A83E"/>
                </a:solidFill>
              </a:defRPr>
            </a:pPr>
            <a:r>
              <a:t>证据等级 A级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E75B6"/>
                </a:solidFill>
              </a:defRPr>
            </a:pPr>
            <a:r>
              <a:t>证据等级 D级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000" b="1">
                <a:solidFill>
                  <a:srgbClr val="2E75B6"/>
                </a:solidFill>
              </a:defRPr>
            </a:pPr>
            <a:r>
              <a:t>背景与意义</a:t>
            </a:r>
          </a:p>
          <a:p>
            <a:pPr>
              <a:spcAft>
                <a:spcPts val="400"/>
              </a:spcAft>
              <a:defRPr sz="1500">
                <a:solidFill>
                  <a:srgbClr val="4A4A4A"/>
                </a:solidFill>
              </a:defRPr>
            </a:pPr>
            <a:r>
              <a:t>• 膳食纤维与肠道健康是公众关注的重要营养话题</a:t>
            </a:r>
          </a:p>
          <a:p>
            <a:pPr>
              <a:spcAft>
                <a:spcPts val="400"/>
              </a:spcAft>
              <a:defRPr sz="1500">
                <a:solidFill>
                  <a:srgbClr val="4A4A4A"/>
                </a:solidFill>
              </a:defRPr>
            </a:pPr>
            <a:r>
              <a:t>• 中国居民膳食结构正在转型期</a:t>
            </a:r>
          </a:p>
          <a:p>
            <a:pPr>
              <a:spcAft>
                <a:spcPts val="400"/>
              </a:spcAft>
              <a:defRPr sz="1500">
                <a:solidFill>
                  <a:srgbClr val="4A4A4A"/>
                </a:solidFill>
              </a:defRPr>
            </a:pPr>
            <a:r>
              <a:t>• 科学证据表明合理膳食对慢性病预防至关重要</a:t>
            </a:r>
          </a:p>
          <a:p>
            <a:pPr>
              <a:spcAft>
                <a:spcPts val="400"/>
              </a:spcAft>
              <a:defRPr sz="1300" i="1">
                <a:solidFill>
                  <a:srgbClr val="707070"/>
                </a:solidFill>
              </a:defRPr>
            </a:pPr>
            <a:r>
              <a:t>信息来源：《中国居民膳食指南（2022）》[1]；Lancet 2019 [2]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532120"/>
            <a:ext cx="11247120" cy="822960"/>
          </a:xfrm>
          <a:prstGeom prst="rect">
            <a:avLst/>
          </a:prstGeom>
          <a:solidFill>
            <a:srgbClr val="ECF2F7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2E75B6"/>
                </a:solidFill>
              </a:defRPr>
            </a:pPr>
            <a:r>
              <a:t>📊 中国 DRIs 参考：膳食纤维 25–30 g/d（AI）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  <a:latin typeface="微软雅黑"/>
              </a:defRPr>
            </a:pPr>
            <a:r>
              <a:t>第3页 / 共9页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2E75B6"/>
                </a:solidFill>
                <a:latin typeface="微软雅黑"/>
              </a:defRPr>
            </a:pPr>
            <a:r>
              <a:t>核心概念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E75B6"/>
                </a:solidFill>
              </a:defRPr>
            </a:pPr>
            <a:r>
              <a:t>证据等级 D级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000" b="1">
                <a:solidFill>
                  <a:srgbClr val="2E75B6"/>
                </a:solidFill>
              </a:defRPr>
            </a:pPr>
            <a:r>
              <a:t>关键术语与定义</a:t>
            </a:r>
          </a:p>
          <a:p>
            <a:pPr>
              <a:spcAft>
                <a:spcPts val="400"/>
              </a:spcAft>
              <a:defRPr sz="1500">
                <a:solidFill>
                  <a:srgbClr val="4A4A4A"/>
                </a:solidFill>
              </a:defRPr>
            </a:pPr>
            <a:r>
              <a:t>本课将要涉及的核心概念：</a:t>
            </a:r>
          </a:p>
          <a:p>
            <a:pPr>
              <a:spcAft>
                <a:spcPts val="400"/>
              </a:spcAft>
              <a:defRPr sz="1500">
                <a:solidFill>
                  <a:srgbClr val="4A4A4A"/>
                </a:solidFill>
              </a:defRPr>
            </a:pPr>
            <a:r>
              <a:t>1. 基本概念一：定义与范畴</a:t>
            </a:r>
          </a:p>
          <a:p>
            <a:pPr>
              <a:spcAft>
                <a:spcPts val="400"/>
              </a:spcAft>
              <a:defRPr sz="1500">
                <a:solidFill>
                  <a:srgbClr val="4A4A4A"/>
                </a:solidFill>
              </a:defRPr>
            </a:pPr>
            <a:r>
              <a:t>2. 基本概念二：作用机制</a:t>
            </a:r>
          </a:p>
          <a:p>
            <a:pPr>
              <a:spcAft>
                <a:spcPts val="400"/>
              </a:spcAft>
              <a:defRPr sz="1500">
                <a:solidFill>
                  <a:srgbClr val="4A4A4A"/>
                </a:solidFill>
              </a:defRPr>
            </a:pPr>
            <a:r>
              <a:t>3. 中国膳食指南推荐</a:t>
            </a:r>
          </a:p>
          <a:p>
            <a:pPr>
              <a:spcAft>
                <a:spcPts val="400"/>
              </a:spcAft>
              <a:defRPr sz="1300" i="1">
                <a:solidFill>
                  <a:srgbClr val="707070"/>
                </a:solidFill>
              </a:defRPr>
            </a:pPr>
            <a:r>
              <a:t>每日推荐摄入量：参考《中国居民膳食指南（2022）》和《中国居民膳食营养素参考摄入量（DRIs）》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  <a:latin typeface="微软雅黑"/>
              </a:defRPr>
            </a:pPr>
            <a:r>
              <a:t>第4页 / 共9页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2E75B6"/>
                </a:solidFill>
                <a:latin typeface="微软雅黑"/>
              </a:defRPr>
            </a:pPr>
            <a:r>
              <a:t>科学证据（一）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8A83E"/>
                </a:solidFill>
              </a:defRPr>
            </a:pPr>
            <a:r>
              <a:t>证据等级 A级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5B8C5A"/>
                </a:solidFill>
              </a:defRPr>
            </a:pPr>
            <a:r>
              <a:t>证据等级 B级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E75B6"/>
                </a:solidFill>
              </a:defRPr>
            </a:pPr>
            <a:r>
              <a:t>证据等级 D级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000" b="1">
                <a:solidFill>
                  <a:srgbClr val="2E75B6"/>
                </a:solidFill>
              </a:defRPr>
            </a:pPr>
            <a:r>
              <a:t>证据概述</a:t>
            </a:r>
          </a:p>
          <a:p>
            <a:pPr>
              <a:spcAft>
                <a:spcPts val="400"/>
              </a:spcAft>
              <a:defRPr sz="1500">
                <a:solidFill>
                  <a:srgbClr val="4A4A4A"/>
                </a:solidFill>
              </a:defRPr>
            </a:pPr>
            <a:r>
              <a:t>循证依据来源：</a:t>
            </a:r>
          </a:p>
          <a:p>
            <a:pPr>
              <a:spcAft>
                <a:spcPts val="200"/>
              </a:spcAft>
              <a:defRPr sz="1200">
                <a:solidFill>
                  <a:srgbClr val="707070"/>
                </a:solidFill>
              </a:defRPr>
            </a:pPr>
            <a:r>
              <a:t>证据等级   关键发现   来源</a:t>
            </a:r>
          </a:p>
          <a:p>
            <a:pPr>
              <a:spcAft>
                <a:spcPts val="200"/>
              </a:spcAft>
              <a:defRPr sz="1200">
                <a:solidFill>
                  <a:srgbClr val="707070"/>
                </a:solidFill>
              </a:defRPr>
            </a:pPr>
            <a:r>
              <a:t>--------- --------- ------</a:t>
            </a:r>
          </a:p>
          <a:p>
            <a:pPr>
              <a:spcAft>
                <a:spcPts val="200"/>
              </a:spcAft>
              <a:defRPr sz="1200">
                <a:solidFill>
                  <a:srgbClr val="707070"/>
                </a:solidFill>
              </a:defRPr>
            </a:pPr>
            <a:r>
              <a:t>A级   系统综述支持该营养策略   Lancet 2019</a:t>
            </a:r>
          </a:p>
          <a:p>
            <a:pPr>
              <a:spcAft>
                <a:spcPts val="200"/>
              </a:spcAft>
              <a:defRPr sz="1200">
                <a:solidFill>
                  <a:srgbClr val="707070"/>
                </a:solidFill>
              </a:defRPr>
            </a:pPr>
            <a:r>
              <a:t>B级   RCT证实机制通路   Cell Host Microbe 2018</a:t>
            </a:r>
          </a:p>
          <a:p>
            <a:pPr>
              <a:spcAft>
                <a:spcPts val="200"/>
              </a:spcAft>
              <a:defRPr sz="1200">
                <a:solidFill>
                  <a:srgbClr val="707070"/>
                </a:solidFill>
              </a:defRPr>
            </a:pPr>
            <a:r>
              <a:t>D级   中国指南推荐   膳食指南2022</a:t>
            </a:r>
          </a:p>
          <a:p>
            <a:pPr>
              <a:spcAft>
                <a:spcPts val="400"/>
              </a:spcAft>
              <a:defRPr sz="1500">
                <a:solidFill>
                  <a:srgbClr val="4A4A4A"/>
                </a:solidFill>
              </a:defRPr>
            </a:pPr>
            <a:r>
              <a:t>*数据来源：[1][2][4]*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  <a:latin typeface="微软雅黑"/>
              </a:defRPr>
            </a:pPr>
            <a:r>
              <a:t>第5页 / 共9页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2E75B6"/>
                </a:solidFill>
                <a:latin typeface="微软雅黑"/>
              </a:defRPr>
            </a:pPr>
            <a:r>
              <a:t>日常实践建议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E75B6"/>
                </a:solidFill>
              </a:defRPr>
            </a:pPr>
            <a:r>
              <a:t>证据等级 D级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000" b="1">
                <a:solidFill>
                  <a:srgbClr val="2E75B6"/>
                </a:solidFill>
              </a:defRPr>
            </a:pPr>
            <a:r>
              <a:t>在生活中如何落实？</a:t>
            </a:r>
          </a:p>
          <a:p>
            <a:pPr>
              <a:spcAft>
                <a:spcPts val="400"/>
              </a:spcAft>
              <a:defRPr sz="1500">
                <a:solidFill>
                  <a:srgbClr val="4A4A4A"/>
                </a:solidFill>
              </a:defRPr>
            </a:pPr>
            <a:r>
              <a:t>### 饮食调整</a:t>
            </a:r>
          </a:p>
          <a:p>
            <a:pPr>
              <a:spcAft>
                <a:spcPts val="400"/>
              </a:spcAft>
              <a:defRPr sz="1500">
                <a:solidFill>
                  <a:srgbClr val="4A4A4A"/>
                </a:solidFill>
              </a:defRPr>
            </a:pPr>
            <a:r>
              <a:t>• 增加相关食物摄入</a:t>
            </a:r>
          </a:p>
          <a:p>
            <a:pPr>
              <a:spcAft>
                <a:spcPts val="400"/>
              </a:spcAft>
              <a:defRPr sz="1500">
                <a:solidFill>
                  <a:srgbClr val="4A4A4A"/>
                </a:solidFill>
              </a:defRPr>
            </a:pPr>
            <a:r>
              <a:t>• 减少不健康选择</a:t>
            </a:r>
          </a:p>
          <a:p>
            <a:pPr>
              <a:spcAft>
                <a:spcPts val="400"/>
              </a:spcAft>
              <a:defRPr sz="1500">
                <a:solidFill>
                  <a:srgbClr val="4A4A4A"/>
                </a:solidFill>
              </a:defRPr>
            </a:pPr>
            <a:r>
              <a:t>• 注意烹饪方式</a:t>
            </a:r>
          </a:p>
          <a:p>
            <a:pPr>
              <a:spcAft>
                <a:spcPts val="400"/>
              </a:spcAft>
              <a:defRPr sz="1500">
                <a:solidFill>
                  <a:srgbClr val="4A4A4A"/>
                </a:solidFill>
              </a:defRPr>
            </a:pPr>
            <a:r>
              <a:t>### 生活方式</a:t>
            </a:r>
          </a:p>
          <a:p>
            <a:pPr>
              <a:spcAft>
                <a:spcPts val="400"/>
              </a:spcAft>
              <a:defRPr sz="1500">
                <a:solidFill>
                  <a:srgbClr val="4A4A4A"/>
                </a:solidFill>
              </a:defRPr>
            </a:pPr>
            <a:r>
              <a:t>• 保持适量运动</a:t>
            </a:r>
          </a:p>
          <a:p>
            <a:pPr>
              <a:spcAft>
                <a:spcPts val="400"/>
              </a:spcAft>
              <a:defRPr sz="1500">
                <a:solidFill>
                  <a:srgbClr val="4A4A4A"/>
                </a:solidFill>
              </a:defRPr>
            </a:pPr>
            <a:r>
              <a:t>• 规律作息</a:t>
            </a:r>
          </a:p>
          <a:p>
            <a:pPr>
              <a:spcAft>
                <a:spcPts val="400"/>
              </a:spcAft>
              <a:defRPr sz="1500">
                <a:solidFill>
                  <a:srgbClr val="4A4A4A"/>
                </a:solidFill>
              </a:defRPr>
            </a:pPr>
            <a:r>
              <a:t>• 管理压力</a:t>
            </a:r>
          </a:p>
          <a:p>
            <a:pPr>
              <a:spcAft>
                <a:spcPts val="400"/>
              </a:spcAft>
              <a:defRPr sz="1300" i="1">
                <a:solidFill>
                  <a:srgbClr val="707070"/>
                </a:solidFill>
              </a:defRPr>
            </a:pPr>
            <a:r>
              <a:t>具体食物选择和份量建议参考《中国居民膳食指南（2022）》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  <a:latin typeface="微软雅黑"/>
              </a:defRPr>
            </a:pPr>
            <a:r>
              <a:t>第6页 / 共9页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E8A83E"/>
                </a:solidFill>
                <a:latin typeface="微软雅黑"/>
              </a:defRPr>
            </a:pPr>
            <a:r>
              <a:t>常见误区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8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000" b="1">
                <a:solidFill>
                  <a:srgbClr val="2E75B6"/>
                </a:solidFill>
              </a:defRPr>
            </a:pPr>
            <a:r>
              <a:t>关于这个话题的常见误解</a:t>
            </a:r>
          </a:p>
          <a:p>
            <a:pPr>
              <a:spcAft>
                <a:spcPts val="400"/>
              </a:spcAft>
              <a:defRPr sz="1600">
                <a:solidFill>
                  <a:srgbClr val="4A4A4A"/>
                </a:solidFill>
              </a:defRPr>
            </a:pPr>
            <a:r>
              <a:t>1. ❌ 误区一：某极端饮食方式效果最好</a:t>
            </a:r>
          </a:p>
          <a:p>
            <a:pPr>
              <a:spcAft>
                <a:spcPts val="400"/>
              </a:spcAft>
              <a:defRPr sz="1600">
                <a:solidFill>
                  <a:srgbClr val="4A4A4A"/>
                </a:solidFill>
              </a:defRPr>
            </a:pPr>
            <a:r>
              <a:t>   ✅ 事实：均衡多样才是关键</a:t>
            </a:r>
          </a:p>
          <a:p>
            <a:pPr>
              <a:spcAft>
                <a:spcPts val="400"/>
              </a:spcAft>
              <a:defRPr sz="1600">
                <a:solidFill>
                  <a:srgbClr val="4A4A4A"/>
                </a:solidFill>
              </a:defRPr>
            </a:pPr>
            <a:r>
              <a:t>2. ❌ 误区二：可以完全替代某一类食物</a:t>
            </a:r>
          </a:p>
          <a:p>
            <a:pPr>
              <a:spcAft>
                <a:spcPts val="400"/>
              </a:spcAft>
              <a:defRPr sz="1600">
                <a:solidFill>
                  <a:srgbClr val="4A4A4A"/>
                </a:solidFill>
              </a:defRPr>
            </a:pPr>
            <a:r>
              <a:t>   ✅ 事实：食物多样化才能保证营养全面</a:t>
            </a:r>
          </a:p>
          <a:p>
            <a:pPr>
              <a:spcAft>
                <a:spcPts val="400"/>
              </a:spcAft>
              <a:defRPr sz="1600">
                <a:solidFill>
                  <a:srgbClr val="4A4A4A"/>
                </a:solidFill>
              </a:defRPr>
            </a:pPr>
            <a:r>
              <a:t>3. ❌ 误区三：看到网上推荐就盲目跟风</a:t>
            </a:r>
          </a:p>
          <a:p>
            <a:pPr>
              <a:spcAft>
                <a:spcPts val="400"/>
              </a:spcAft>
              <a:defRPr sz="1600">
                <a:solidFill>
                  <a:srgbClr val="4A4A4A"/>
                </a:solidFill>
              </a:defRPr>
            </a:pPr>
            <a:r>
              <a:t>   ✅ 事实：个体差异大，建议咨询专业人士</a:t>
            </a:r>
          </a:p>
          <a:p>
            <a:pPr>
              <a:spcAft>
                <a:spcPts val="400"/>
              </a:spcAft>
              <a:defRPr sz="1300" i="1">
                <a:solidFill>
                  <a:srgbClr val="707070"/>
                </a:solidFill>
              </a:defRPr>
            </a:pPr>
            <a:r>
              <a:t>⚠️ 所有健康建议仅供科普参考，不可替代专业医疗建议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  <a:latin typeface="微软雅黑"/>
              </a:defRPr>
            </a:pPr>
            <a:r>
              <a:t>第7页 / 共9页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E8A83E"/>
                </a:solidFill>
                <a:latin typeface="微软雅黑"/>
              </a:defRPr>
            </a:pPr>
            <a:r>
              <a:t>总结要点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8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000" b="1">
                <a:solidFill>
                  <a:srgbClr val="2E75B6"/>
                </a:solidFill>
              </a:defRPr>
            </a:pPr>
            <a:r>
              <a:t>今天的关键信息</a:t>
            </a:r>
          </a:p>
          <a:p>
            <a:pPr>
              <a:spcAft>
                <a:spcPts val="400"/>
              </a:spcAft>
              <a:defRPr sz="1600">
                <a:solidFill>
                  <a:srgbClr val="4A4A4A"/>
                </a:solidFill>
              </a:defRPr>
            </a:pPr>
            <a:r>
              <a:t>1. 均衡膳食是健康基础</a:t>
            </a:r>
          </a:p>
          <a:p>
            <a:pPr>
              <a:spcAft>
                <a:spcPts val="400"/>
              </a:spcAft>
              <a:defRPr sz="1600">
                <a:solidFill>
                  <a:srgbClr val="4A4A4A"/>
                </a:solidFill>
              </a:defRPr>
            </a:pPr>
            <a:r>
              <a:t>2. 科学研究支持合理营养摄入</a:t>
            </a:r>
          </a:p>
          <a:p>
            <a:pPr>
              <a:spcAft>
                <a:spcPts val="400"/>
              </a:spcAft>
              <a:defRPr sz="1600">
                <a:solidFill>
                  <a:srgbClr val="4A4A4A"/>
                </a:solidFill>
              </a:defRPr>
            </a:pPr>
            <a:r>
              <a:t>3. 每日从小改变开始</a:t>
            </a:r>
          </a:p>
          <a:p>
            <a:pPr>
              <a:spcAft>
                <a:spcPts val="400"/>
              </a:spcAft>
              <a:defRPr sz="1600">
                <a:solidFill>
                  <a:srgbClr val="4A4A4A"/>
                </a:solidFill>
              </a:defRPr>
            </a:pPr>
            <a:r>
              <a:t>4. 避免营养极端主义</a:t>
            </a:r>
          </a:p>
          <a:p>
            <a:pPr>
              <a:spcAft>
                <a:spcPts val="400"/>
              </a:spcAft>
              <a:defRPr sz="1600">
                <a:solidFill>
                  <a:srgbClr val="4A4A4A"/>
                </a:solidFill>
              </a:defRPr>
            </a:pPr>
            <a:r>
              <a:t>5. 建议咨询注册营养师</a:t>
            </a:r>
          </a:p>
          <a:p>
            <a:pPr>
              <a:spcAft>
                <a:spcPts val="400"/>
              </a:spcAft>
              <a:defRPr sz="1300" i="1">
                <a:solidFill>
                  <a:srgbClr val="707070"/>
                </a:solidFill>
              </a:defRPr>
            </a:pPr>
            <a:r>
              <a:t>合理膳食 + 适量运动 + 良好心态 = 健康生活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  <a:latin typeface="微软雅黑"/>
              </a:defRPr>
            </a:pPr>
            <a:r>
              <a:t>第8页 / 共9页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2E75B6"/>
                </a:solidFill>
                <a:latin typeface="微软雅黑"/>
              </a:defRPr>
            </a:pPr>
            <a:r>
              <a:t>参考文献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000" b="1">
                <a:solidFill>
                  <a:srgbClr val="2E75B6"/>
                </a:solidFill>
              </a:defRPr>
            </a:pPr>
            <a:r>
              <a:t>主要参考文献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1. 中国营养学会. 中国居民膳食指南（2022）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2. Reynolds A, et al. Lancet. 2019; PMID:30638909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3. 国家卫生健康委. 成人肥胖食养指南（2024年版）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4. Makki K, et al. Cell Host Microbe. 2018; PMID:29902436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5. 中华中医药学会. 儿童青少年肥胖治未病干预指南. 2026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---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*免责声明：本课件仅供营养科普教育使用，不可替代专业医疗诊断和治疗建议。*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  <a:latin typeface="微软雅黑"/>
              </a:defRPr>
            </a:pPr>
            <a:r>
              <a:t>第9页 / 共9页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